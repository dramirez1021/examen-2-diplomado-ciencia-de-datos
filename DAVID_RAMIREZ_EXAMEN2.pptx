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6B6B"/>
                </a:solidFill>
                <a:latin typeface="+mn-lt"/>
              </a:defRPr>
            </a:pPr>
            <a:r>
              <a:rPr lang="es-ES" sz="1200" b="0" i="0" u="none" strike="noStrike">
                <a:solidFill>
                  <a:srgbClr val="5C6B6B"/>
                </a:solidFill>
                <a:latin typeface="+mn-lt"/>
              </a:rPr>
              <a:t>PR-AUC en test (más alto = mejor)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B8C4C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A0-434D-993E-E494121471C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1A0-434D-993E-E494121471CE}"/>
              </c:ext>
            </c:extLst>
          </c:dPt>
          <c:dPt>
            <c:idx val="2"/>
            <c:invertIfNegative val="0"/>
            <c:bubble3D val="0"/>
            <c:spPr>
              <a:solidFill>
                <a:srgbClr val="0F3D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A0-434D-993E-E494121471CE}"/>
              </c:ext>
            </c:extLst>
          </c:dPt>
          <c:dPt>
            <c:idx val="3"/>
            <c:invertIfNegative val="0"/>
            <c:bubble3D val="0"/>
            <c:spPr>
              <a:solidFill>
                <a:srgbClr val="0F3D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A0-434D-993E-E494121471CE}"/>
              </c:ext>
            </c:extLst>
          </c:dPt>
          <c:dPt>
            <c:idx val="4"/>
            <c:invertIfNegative val="0"/>
            <c:bubble3D val="0"/>
            <c:spPr>
              <a:solidFill>
                <a:srgbClr val="E364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1A0-434D-993E-E494121471C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D2B2B"/>
                    </a:solidFill>
                    <a:latin typeface="+mn-l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Siempre "a tiempo"</c:v>
                </c:pt>
                <c:pt idx="1">
                  <c:v>Regla: distancia</c:v>
                </c:pt>
                <c:pt idx="2">
                  <c:v>Reg. logística</c:v>
                </c:pt>
                <c:pt idx="3">
                  <c:v>Random Forest</c:v>
                </c:pt>
                <c:pt idx="4">
                  <c:v>LightGBM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4.3999999999999997E-2</c:v>
                </c:pt>
                <c:pt idx="1">
                  <c:v>6.0999999999999999E-2</c:v>
                </c:pt>
                <c:pt idx="2">
                  <c:v>0.107</c:v>
                </c:pt>
                <c:pt idx="3">
                  <c:v>9.1999999999999998E-2</c:v>
                </c:pt>
                <c:pt idx="4">
                  <c:v>0.109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1A0-434D-993E-E494121471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D2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23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Objetivo: estimar la probabilidad de que una orden llegue tarde (1) o a tiempo (0) y mostrar cómo eso mejora la operación.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 = fecha de entrega posterior a la fecha prometida. Las reseñas muestran el costo comercial del retraso.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32,150 órdenes (abr–ago 2018). ROC-AUC: LightGBM 0.73, logística 0.73, RF 0.69, regla 0.53. Se probaron variables de historial del vendedor y carga de plataforma y empeoraron en test, por eso no se incluyeron.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130 ≈ 240 rescatadas × (63% − 9.5%) de diferencia en reseñas de 1–2 estrellas. Es una estimación, no un efecto causal medido.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entregas tardías antes de que ocurran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0"/>
                </a:solidFill>
              </a:rPr>
              <a:t>Modelo de riesgo de retraso para un e-commerce  ·  96,470 órdenes entregadas (Olist)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E36414"/>
          </a:solidFill>
          <a:ln w="12700">
            <a:solidFill>
              <a:srgbClr val="E3641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 txBox="1"/>
          <p:nvPr/>
        </p:nvSpPr>
        <p:spPr>
          <a:xfrm>
            <a:off x="118872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0"/>
                </a:solidFill>
              </a:rPr>
              <a:t>Examen 2 · Diplomado en Ciencia de Datos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1 de cada 15 pedidos llega tarde, y el cliente lo castiga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640080" y="13075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6.8%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de las órdenes llegan después de la fecha prometida (6,534 de 96,470)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640080" y="24963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vs 4.3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900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calificación media de un pedido tardío vs. uno a tiempo (de 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640080" y="36850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 vs 9.5%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788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de las reseñas son de 1–2 estrellas: tardío vs. a tiempo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</a:rPr>
              <a:t>Qué buscamos resolver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D2B2B"/>
                </a:solidFill>
              </a:rPr>
              <a:t>Estimar, al momento de la compra, la probabilidad de que una orden se retrase (1) o no (0), para actuar antes de que el cliente se queje.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D3E"/>
                </a:solidFill>
              </a:rPr>
              <a:t>Cómo lo resolvimos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5468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B2B"/>
                </a:solidFill>
              </a:rPr>
              <a:t>Modelo de clasificación con datos de la compra: promesa de entrega, distancia vendedor–cliente, peso, flete, categoría y calendario.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D2B2B"/>
                </a:solidFill>
              </a:rPr>
              <a:t>Validación por fechas: se entrena con el pasado y se prueba en abr–ago 2018.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Evaluación: los modelos superan con claridad a las líneas base</a:t>
            </a:r>
            <a:endParaRPr lang="en-US" sz="2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188720"/>
          <a:ext cx="47548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</a:rPr>
              <a:t>Métrica principal: PR-AUC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394960" y="1463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Solo 4.4% de las órdenes de prueba llegan tarde: decir siempre "a tiempo" acertaría 95.6% y no serviría. PR-AUC mide si los retrasos reales se concentran en las órdenes que el modelo marca de mayor riesgo.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39496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</a:rPr>
              <a:t>Traducción a negocio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2971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Revisando solo el 10% de órdenes de mayor riesgo, LightGBM captura 27% de los retrasos: 2.7× el azar (la regla de distancia: 2.0×).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</a:rPr>
              <a:t>Modelo elegido: LightGBM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Empata en ranking con la logística, pero sus probabilidades están calibradas: predice 4.9% de retraso medio vs. 4.4% real.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Impacto: enfocar la acción en el 10% de mayor riesgo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59436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3,215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órdenes marcadas de 32,150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38328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retrasos capturados (27% de 1,421)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6172200" y="1325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6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rescatados si se promete +7 días (17% del total)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2B2B"/>
                </a:solidFill>
              </a:rPr>
              <a:t>Simulación: a las órdenes marcadas se les amplía la fecha prometida +3, +5 o +7 días (rescata 113, 174 o 240 retrasos). Estimado: ≈130 reseñas negativas menos en 5 meses.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</a:rPr>
              <a:t>Siguientes pasos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 err="1">
                <a:solidFill>
                  <a:srgbClr val="1D2B2B"/>
                </a:solidFill>
              </a:rPr>
              <a:t>Reentrenar</a:t>
            </a:r>
            <a:r>
              <a:rPr lang="en-US" sz="1200" dirty="0">
                <a:solidFill>
                  <a:srgbClr val="1D2B2B"/>
                </a:solidFill>
              </a:rPr>
              <a:t> periódicamente: el retraso cambió mucho entre 2017 y 2018.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3E"/>
                </a:solidFill>
              </a:rPr>
              <a:t>Alcance y mejora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7033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B2B"/>
                </a:solidFill>
              </a:rPr>
              <a:t>Solo 12% de las marcadas se </a:t>
            </a:r>
            <a:r>
              <a:rPr lang="en-US" sz="1200" dirty="0" err="1">
                <a:solidFill>
                  <a:srgbClr val="1D2B2B"/>
                </a:solidFill>
              </a:rPr>
              <a:t>retrasan</a:t>
            </a:r>
            <a:r>
              <a:rPr lang="en-US" sz="1200" dirty="0">
                <a:solidFill>
                  <a:srgbClr val="1D2B2B"/>
                </a:solidFill>
              </a:rPr>
              <a:t>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B2B"/>
                </a:solidFill>
              </a:rPr>
              <a:t>Un modelo al despachar al transportista sube ROC-AUC a 0.83 y captura 50% de los retrasos.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566</Words>
  <Application>Microsoft Office PowerPoint</Application>
  <PresentationFormat>Presentación en pantalla (16:9)</PresentationFormat>
  <Paragraphs>44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 Lilia Medina Montiel</cp:lastModifiedBy>
  <cp:revision>2</cp:revision>
  <dcterms:created xsi:type="dcterms:W3CDTF">2026-10-03T16:56:58Z</dcterms:created>
  <dcterms:modified xsi:type="dcterms:W3CDTF">2026-10-03T18:48:46Z</dcterms:modified>
</cp:coreProperties>
</file>